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323338"/>
                </a:solidFill>
                <a:latin typeface="Calibri"/>
              </a:rPr>
              <a:t>Solaroo RE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0073EA"/>
                </a:solidFill>
                <a:latin typeface="Calibri"/>
              </a:rPr>
              <a:t>Sales-to-Project Lifecycle Flowcharts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676879"/>
                </a:solidFill>
                <a:latin typeface="Calibri"/>
              </a:rPr>
              <a:t>Account · Site · Opportunity · Proposal · Contract · Project · Commissioning · O&amp;M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76879"/>
                </a:solidFill>
                <a:latin typeface="Calibri"/>
              </a:rPr>
              <a:t>Pekat Teknologi Sdn Bhd · Internal CRM platform ·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End-to-End Lifecycle — One-Page Master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From first contact to operating asset. Each stage is a CRM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92073" cy="96012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Account
&amp;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Customer + location
record created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9273" y="1463040"/>
            <a:ext cx="1192073" cy="96012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9273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Decision-makers
linked to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2786" y="1463040"/>
            <a:ext cx="1192073" cy="96012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786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Deal record +
stage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6298" y="1463040"/>
            <a:ext cx="1192073" cy="96012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Proposal
(versions)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6298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Frozen assumption
set per 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9811" y="1463040"/>
            <a:ext cx="1192073" cy="96012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Contract
awarded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9811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Signed scope +
milestones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3324" y="1463040"/>
            <a:ext cx="1192073" cy="96012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Project
(auto-created)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3324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PM assigned at WON.
Gates open.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7" y="1463040"/>
            <a:ext cx="1192073" cy="960120"/>
          </a:xfrm>
          <a:prstGeom prst="roundRect">
            <a:avLst/>
          </a:prstGeom>
          <a:solidFill>
            <a:srgbClr val="A25DDC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Procurement
+ Site Exec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6837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RFQs · POs ·
Deliveries · 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0349" y="1463040"/>
            <a:ext cx="1192073" cy="96012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Commissioning
+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0349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Tests passed.
Assets registered.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33862" y="1463040"/>
            <a:ext cx="1192073" cy="96012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O&amp;M
(operating)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3862" y="2468880"/>
            <a:ext cx="1192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Tickets, maintenance,
warranty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57833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41346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24858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08371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91884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75397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58909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542422" y="1943100"/>
            <a:ext cx="91440" cy="0"/>
          </a:xfrm>
          <a:prstGeom prst="line">
            <a:avLst/>
          </a:prstGeom>
          <a:ln w="1905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5760" y="38404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Cross-cutting — applied to every stage: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160520"/>
            <a:ext cx="1833829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73EA"/>
                </a:solidFill>
                <a:latin typeface="Calibri"/>
              </a:rPr>
              <a:t>Activity Timeline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709160"/>
            <a:ext cx="1833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Every call/email/visit logged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91029" y="4160520"/>
            <a:ext cx="1833829" cy="50292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DAB3D"/>
                </a:solidFill>
                <a:latin typeface="Calibri"/>
              </a:rPr>
              <a:t>Next-Action Discipline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91029" y="4709160"/>
            <a:ext cx="1833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One open action per opp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16298" y="4160520"/>
            <a:ext cx="1833829" cy="50292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Health Indicator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6298" y="4709160"/>
            <a:ext cx="1833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Healthy / At Risk / Stale / Overdue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1568" y="4160520"/>
            <a:ext cx="1833829" cy="502920"/>
          </a:xfrm>
          <a:prstGeom prst="roundRect">
            <a:avLst/>
          </a:prstGeom>
          <a:solidFill>
            <a:srgbClr val="EADBF8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A25DDC"/>
                </a:solidFill>
                <a:latin typeface="Calibri"/>
              </a:rPr>
              <a:t>Notifications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568" y="4709160"/>
            <a:ext cx="1833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Bell alerts + daily digest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6837" y="4160520"/>
            <a:ext cx="1833829" cy="502920"/>
          </a:xfrm>
          <a:prstGeom prst="roundRect">
            <a:avLst/>
          </a:prstGeom>
          <a:solidFill>
            <a:srgbClr val="F0F1F4"/>
          </a:solidFill>
          <a:ln w="9525">
            <a:solidFill>
              <a:srgbClr val="676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676879"/>
                </a:solidFill>
                <a:latin typeface="Calibri"/>
              </a:rPr>
              <a:t>Audit 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6837" y="4709160"/>
            <a:ext cx="1833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Every status change recorded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92106" y="4160520"/>
            <a:ext cx="1833829" cy="502920"/>
          </a:xfrm>
          <a:prstGeom prst="roundRect">
            <a:avLst/>
          </a:prstGeom>
          <a:solidFill>
            <a:srgbClr val="FBDCE0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E2445C"/>
                </a:solidFill>
                <a:latin typeface="Calibri"/>
              </a:rPr>
              <a:t>Role-based Visibility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92106" y="4709160"/>
            <a:ext cx="1833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Margin/CAPEX restricted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4406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Primary owners by stage: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Sales Engineer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9273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Sales Engineer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32786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Sales Engineer / Manager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16298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Sales Eng + Design 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99811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Sales Manager + Director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3324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PMO Manager → PM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6837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Procurement + Site Sup.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50349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Commissioning Eng.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33862" y="5760720"/>
            <a:ext cx="11920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338"/>
                </a:solidFill>
                <a:latin typeface="Calibri"/>
              </a:rPr>
              <a:t>O&amp;M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1. Lead Capture &amp; Qualification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How a new enquiry becomes a qualified opportunity in the CRM.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676879"/>
                </a:solidFill>
                <a:latin typeface="Calibri"/>
              </a:rPr>
              <a:t>Lead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1280160" cy="64008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869B"/>
                </a:solidFill>
                <a:latin typeface="Calibri"/>
              </a:rPr>
              <a:t>Inbound
web /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417320"/>
            <a:ext cx="1280160" cy="64008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869B"/>
                </a:solidFill>
                <a:latin typeface="Calibri"/>
              </a:rPr>
              <a:t>Referral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417320"/>
            <a:ext cx="1280160" cy="64008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869B"/>
                </a:solidFill>
                <a:latin typeface="Calibri"/>
              </a:rPr>
              <a:t>Trade show /
expo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17320"/>
            <a:ext cx="1280160" cy="64008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869B"/>
                </a:solidFill>
                <a:latin typeface="Calibri"/>
              </a:rPr>
              <a:t>Existing
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468880"/>
            <a:ext cx="6400800" cy="50292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Sales Engineer captures lead in CRM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2057400"/>
            <a:ext cx="0" cy="41148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057400"/>
            <a:ext cx="0" cy="41148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2057400"/>
            <a:ext cx="0" cy="41148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2057400"/>
            <a:ext cx="0" cy="41148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3291840"/>
            <a:ext cx="1920240" cy="50292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Account
(if new)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company / industry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325880" y="2971800"/>
            <a:ext cx="2240280" cy="32004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514600" y="3291840"/>
            <a:ext cx="1920240" cy="50292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Site
(if new)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geo, capacity, grid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474720" y="2971800"/>
            <a:ext cx="91440" cy="32004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663440" y="3291840"/>
            <a:ext cx="1920240" cy="50292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Contact(s)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name, role, email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2971800"/>
            <a:ext cx="2057400" cy="32004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5760" y="4434840"/>
            <a:ext cx="6400800" cy="50292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Opportunity created · stage = QUALIFICATION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25880" y="4206240"/>
            <a:ext cx="0" cy="22860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74720" y="4206240"/>
            <a:ext cx="0" cy="22860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23560" y="4206240"/>
            <a:ext cx="0" cy="22860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2103120" y="5212080"/>
            <a:ext cx="2926080" cy="1005840"/>
          </a:xfrm>
          <a:prstGeom prst="diamond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Qualified?
(budget · authority ·
need · timeline)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66160" y="4937760"/>
            <a:ext cx="0" cy="27432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86400" y="5349240"/>
            <a:ext cx="2377440" cy="54864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Stage → NEEDS_ASSESSMENT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0" y="5715000"/>
            <a:ext cx="457200" cy="0"/>
          </a:xfrm>
          <a:prstGeom prst="line">
            <a:avLst/>
          </a:prstGeom>
          <a:ln w="25400" cap="flat" cmpd="sng" algn="ctr">
            <a:solidFill>
              <a:srgbClr val="00CA72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74920" y="54864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CA72"/>
                </a:solidFill>
                <a:latin typeface="Calibri"/>
              </a:rP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6400800"/>
            <a:ext cx="2926080" cy="365760"/>
          </a:xfrm>
          <a:prstGeom prst="roundRect">
            <a:avLst/>
          </a:prstGeom>
          <a:solidFill>
            <a:srgbClr val="E2445C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Stage → LOST  ·  reason recorded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66160" y="6217920"/>
            <a:ext cx="0" cy="182880"/>
          </a:xfrm>
          <a:prstGeom prst="line">
            <a:avLst/>
          </a:prstGeom>
          <a:ln w="25400" cap="flat" cmpd="sng" algn="ctr">
            <a:solidFill>
              <a:srgbClr val="E2445C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62179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2445C"/>
                </a:solidFill>
                <a:latin typeface="Calibri"/>
              </a:rP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1097280"/>
            <a:ext cx="3291840" cy="5303520"/>
          </a:xfrm>
          <a:prstGeom prst="roundRect">
            <a:avLst/>
          </a:prstGeom>
          <a:solidFill>
            <a:srgbClr val="F0F1F4"/>
          </a:solidFill>
          <a:ln>
            <a:solidFill>
              <a:srgbClr val="676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1234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23338"/>
                </a:solidFill>
                <a:latin typeface="Calibri"/>
              </a:rPr>
              <a:t>Discipline applied immediately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1600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Set Owner = capturing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19293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Log inbound activity (CALL / EMAIL)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258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Set first Next Action: SITE_SURVEY or FOLLOW_UP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5877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Set Due Date (≤ 7 days)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9169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Save → opportunity becomes 'Healthy'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246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5753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Notifications wired: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9044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Overdue next action (daily)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2336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No activity in 14 / 30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5628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• Proposal awaiting follow-up (3d)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Opportunity Stage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Linear stage progression. Stage jumps are blocked. Every transition is audited.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33651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QUALIFICATION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02270" y="2148840"/>
            <a:ext cx="109728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11998" y="1828800"/>
            <a:ext cx="133651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NEEDS_ASSESSMENT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48508" y="2148840"/>
            <a:ext cx="109728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58236" y="1828800"/>
            <a:ext cx="133651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TECHNICAL_DESIGN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94746" y="2148840"/>
            <a:ext cx="109728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04474" y="1828800"/>
            <a:ext cx="133651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BUDGETARY_PROPOSAL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40984" y="2148840"/>
            <a:ext cx="109728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50712" y="1828800"/>
            <a:ext cx="133651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FIRM_PROPOSAL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87221" y="2148840"/>
            <a:ext cx="109728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96949" y="1828800"/>
            <a:ext cx="133651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NEGOTIATION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33459" y="2148840"/>
            <a:ext cx="109728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43187" y="1828800"/>
            <a:ext cx="133651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79697" y="2148840"/>
            <a:ext cx="109728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489425" y="1828800"/>
            <a:ext cx="1336510" cy="64008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108960"/>
            <a:ext cx="2103120" cy="502920"/>
          </a:xfrm>
          <a:prstGeom prst="roundRect">
            <a:avLst/>
          </a:prstGeom>
          <a:solidFill>
            <a:srgbClr val="E2445C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LOST · reason required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2468880"/>
            <a:ext cx="0" cy="640080"/>
          </a:xfrm>
          <a:prstGeom prst="bentConnector3">
            <a:avLst/>
          </a:prstGeom>
          <a:ln w="22225" cap="flat" cmpd="sng" algn="ctr">
            <a:solidFill>
              <a:srgbClr val="E2445C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0" y="2606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E2445C"/>
                </a:solidFill>
                <a:latin typeface="Calibri"/>
              </a:rPr>
              <a:t>any stage → LOST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65760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What the system enforces at every stage: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31920"/>
            <a:ext cx="2286000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73EA"/>
                </a:solidFill>
                <a:latin typeface="Calibri"/>
              </a:rPr>
              <a:t>Activity logging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31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Sales engineer logs call / email / visit / WhatsApp / proposal follow-up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526280"/>
            <a:ext cx="2286000" cy="50292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DAB3D"/>
                </a:solidFill>
                <a:latin typeface="Calibri"/>
              </a:rPr>
              <a:t>Next action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5262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Type · owner · due date.  Empty slot ⇒ At Risk flag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120640"/>
            <a:ext cx="2286000" cy="50292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Health calc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1206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Healthy · At Risk (&gt;14d silent / no action) · Stale (&gt;30d) · Overdue (action past due)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715000"/>
            <a:ext cx="2286000" cy="502920"/>
          </a:xfrm>
          <a:prstGeom prst="roundRect">
            <a:avLst/>
          </a:prstGeom>
          <a:solidFill>
            <a:srgbClr val="EADBF8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A25DDC"/>
                </a:solidFill>
                <a:latin typeface="Calibri"/>
              </a:rPr>
              <a:t>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71500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Bell alerts to owner + sales manager.  Daily digest at 30-min tick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6309360"/>
            <a:ext cx="2286000" cy="502920"/>
          </a:xfrm>
          <a:prstGeom prst="roundRect">
            <a:avLst/>
          </a:prstGeom>
          <a:solidFill>
            <a:srgbClr val="F0F1F4"/>
          </a:solidFill>
          <a:ln w="9525">
            <a:solidFill>
              <a:srgbClr val="676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676879"/>
                </a:solidFill>
                <a:latin typeface="Calibri"/>
              </a:rPr>
              <a:t>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63093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323338"/>
                </a:solidFill>
                <a:latin typeface="Calibri"/>
              </a:rPr>
              <a:t>Every stage change, every field touch, recorded in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Proposal Lifecycle (versions &amp; approval)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Each proposal version freezes its assumption set. Approved versions are immutable.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005840"/>
            <a:ext cx="10058400" cy="1188720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417320" cy="1188720"/>
          </a:xfrm>
          <a:prstGeom prst="rect">
            <a:avLst/>
          </a:prstGeom>
          <a:solidFill>
            <a:srgbClr val="0073EA"/>
          </a:solidFill>
          <a:ln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Sales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286000"/>
            <a:ext cx="10058400" cy="1188720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1417320" cy="1188720"/>
          </a:xfrm>
          <a:prstGeom prst="rect">
            <a:avLst/>
          </a:prstGeom>
          <a:solidFill>
            <a:srgbClr val="00869B"/>
          </a:solidFill>
          <a:ln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Design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566160"/>
            <a:ext cx="10058400" cy="1188720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1417320" cy="1188720"/>
          </a:xfrm>
          <a:prstGeom prst="rect">
            <a:avLst/>
          </a:prstGeom>
          <a:solidFill>
            <a:srgbClr val="A25DDC"/>
          </a:solidFill>
          <a:ln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Director / Sales Mgr (Approver)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10058400" cy="1188720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846320"/>
            <a:ext cx="1417320" cy="1188720"/>
          </a:xfrm>
          <a:prstGeom prst="rect">
            <a:avLst/>
          </a:prstGeom>
          <a:solidFill>
            <a:srgbClr val="00CA72"/>
          </a:solidFill>
          <a:ln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234440"/>
            <a:ext cx="155448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Draft v1
+ assumptions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234440"/>
            <a:ext cx="155448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Revise v2 if
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234440"/>
            <a:ext cx="1554480" cy="6400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Issue v_n
to customer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514600"/>
            <a:ext cx="1554480" cy="64008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Tech sign-off
on BoQ / SLD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3794760"/>
            <a:ext cx="1554480" cy="640080"/>
          </a:xfrm>
          <a:prstGeom prst="roundRect">
            <a:avLst/>
          </a:prstGeom>
          <a:solidFill>
            <a:srgbClr val="A25DDC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Approve
or reject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5074920"/>
            <a:ext cx="1554480" cy="64008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Accept /
request revision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1874519"/>
            <a:ext cx="1645920" cy="640081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840" y="3154680"/>
            <a:ext cx="1645920" cy="64008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4434840"/>
            <a:ext cx="4754880" cy="640080"/>
          </a:xfrm>
          <a:prstGeom prst="line">
            <a:avLst/>
          </a:prstGeom>
          <a:ln w="22225" cap="flat" cmpd="sng" algn="ctr">
            <a:solidFill>
              <a:srgbClr val="00CA72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566160" y="1874519"/>
            <a:ext cx="1737360" cy="2240281"/>
          </a:xfrm>
          <a:prstGeom prst="line">
            <a:avLst/>
          </a:prstGeom>
          <a:ln w="22225" cap="flat" cmpd="sng" algn="ctr">
            <a:solidFill>
              <a:srgbClr val="E2445C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E2445C"/>
                </a:solidFill>
                <a:latin typeface="Calibri"/>
              </a:rPr>
              <a:t>reject → new version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7818120" y="1874519"/>
            <a:ext cx="2240280" cy="3337561"/>
          </a:xfrm>
          <a:prstGeom prst="line">
            <a:avLst/>
          </a:prstGeom>
          <a:ln w="22225" cap="flat" cmpd="sng" algn="ctr">
            <a:solidFill>
              <a:srgbClr val="FDAB3D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0" y="3383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DAB3D"/>
                </a:solidFill>
                <a:latin typeface="Calibri"/>
              </a:rPr>
              <a:t>revision requested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76879"/>
                </a:solidFill>
                <a:latin typeface="Calibri"/>
              </a:rPr>
              <a:t>Rules: each version freezes its assumption set · approved versions are immutable · supersession requires a new version · all decisions audited · margin/CAPEX visible to Director + Sales Manager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4. Award &amp; Handover (Opp WON → Contract → Project)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Marking an opportunity WON triggers automatic contract + project creation.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280160"/>
            <a:ext cx="2286000" cy="64008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Opportunity → WON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286000" cy="594360"/>
          </a:xfrm>
          <a:prstGeom prst="roundRect">
            <a:avLst/>
          </a:prstGeom>
          <a:solidFill>
            <a:srgbClr val="A25DDC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Contract record
auto-created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76879"/>
                </a:solidFill>
                <a:latin typeface="Calibri"/>
              </a:rPr>
              <a:t>Status = AWARDED
Value + scope from
final proposal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691640" y="1920240"/>
            <a:ext cx="4389120" cy="54864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8960" y="2468880"/>
            <a:ext cx="2286000" cy="59436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Project record
auto-created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1089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76879"/>
                </a:solidFill>
                <a:latin typeface="Calibri"/>
              </a:rPr>
              <a:t>Code · PM assigned
Gates open · RAG=Green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251960" y="1920240"/>
            <a:ext cx="1828800" cy="54864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0" y="2468880"/>
            <a:ext cx="2286000" cy="59436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Milestones &amp;
invoicing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1089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76879"/>
                </a:solidFill>
                <a:latin typeface="Calibri"/>
              </a:rPr>
              <a:t>Per contract terms
(advance, mob, comm.)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1920240"/>
            <a:ext cx="731520" cy="54864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2468880"/>
            <a:ext cx="2286000" cy="59436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Handover packet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76879"/>
                </a:solidFill>
                <a:latin typeface="Calibri"/>
              </a:rPr>
              <a:t>Notification to PM
+ PMO Manager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1920240"/>
            <a:ext cx="3291840" cy="54864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" y="40233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Project gates open in sequence (PMO Manager + PM approve closure):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G1 Kickoff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52562" y="4686300"/>
            <a:ext cx="45720" cy="0"/>
          </a:xfrm>
          <a:prstGeom prst="line">
            <a:avLst/>
          </a:prstGeom>
          <a:ln w="1587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798282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G2 Design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85084" y="4686300"/>
            <a:ext cx="45720" cy="0"/>
          </a:xfrm>
          <a:prstGeom prst="line">
            <a:avLst/>
          </a:prstGeom>
          <a:ln w="1587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30804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G3 Procurement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17606" y="4686300"/>
            <a:ext cx="45720" cy="0"/>
          </a:xfrm>
          <a:prstGeom prst="line">
            <a:avLst/>
          </a:prstGeom>
          <a:ln w="1587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63326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G4 Mobilisation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50128" y="4686300"/>
            <a:ext cx="45720" cy="0"/>
          </a:xfrm>
          <a:prstGeom prst="line">
            <a:avLst/>
          </a:prstGeom>
          <a:ln w="1587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095848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G5 Construction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82649" y="4686300"/>
            <a:ext cx="45720" cy="0"/>
          </a:xfrm>
          <a:prstGeom prst="line">
            <a:avLst/>
          </a:prstGeom>
          <a:ln w="1587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528369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G6 Commissioning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15171" y="4686300"/>
            <a:ext cx="45720" cy="0"/>
          </a:xfrm>
          <a:prstGeom prst="line">
            <a:avLst/>
          </a:prstGeom>
          <a:ln w="1587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60891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G7 Handover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47693" y="4686300"/>
            <a:ext cx="45720" cy="0"/>
          </a:xfrm>
          <a:prstGeom prst="line">
            <a:avLst/>
          </a:prstGeom>
          <a:ln w="1587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393413" y="4434840"/>
            <a:ext cx="1386802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G8 Closeout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2120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Triggered notifications: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532120"/>
            <a:ext cx="2788920" cy="50292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CA72"/>
                </a:solidFill>
                <a:latin typeface="Calibri"/>
              </a:rPr>
              <a:t>contract_awarded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0350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Director · Sales Mgr · PM · Finance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5532120"/>
            <a:ext cx="2788920" cy="50292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DAB3D"/>
                </a:solidFill>
                <a:latin typeface="Calibri"/>
              </a:rPr>
              <a:t>contract_handover_ready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60350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PMO Manager + PM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532120"/>
            <a:ext cx="2788920" cy="50292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CA72"/>
                </a:solidFill>
                <a:latin typeface="Calibri"/>
              </a:rPr>
              <a:t>contract_handover_completed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60350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PM + Director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532120"/>
            <a:ext cx="2788920" cy="50292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project_member_added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0350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New team member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5. Project Execution — Gate, RAG &amp; Blocker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Each gate has structured deliverables. Closure requires approver sign-off.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23338"/>
                </a:solidFill>
                <a:latin typeface="Calibri"/>
              </a:rPr>
              <a:t>Single-gate state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286000" cy="502920"/>
          </a:xfrm>
          <a:prstGeom prst="roundRect">
            <a:avLst/>
          </a:prstGeom>
          <a:solidFill>
            <a:srgbClr val="676879"/>
          </a:solidFill>
          <a:ln w="9525">
            <a:solidFill>
              <a:srgbClr val="676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2286000" cy="50292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IN_PROGRESS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2286000" cy="50292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SUBMITTED FOR REVIEW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" y="3749039"/>
            <a:ext cx="2286000" cy="822960"/>
          </a:xfrm>
          <a:prstGeom prst="diamond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Approved?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80"/>
            <a:ext cx="2286000" cy="50292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931920"/>
            <a:ext cx="1828800" cy="502920"/>
          </a:xfrm>
          <a:prstGeom prst="roundRect">
            <a:avLst/>
          </a:prstGeom>
          <a:solidFill>
            <a:srgbClr val="E2445C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REJECTED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08760" y="2057400"/>
            <a:ext cx="0" cy="22860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08760" y="2788920"/>
            <a:ext cx="0" cy="22860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08760" y="3520440"/>
            <a:ext cx="0" cy="228599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08760" y="4572000"/>
            <a:ext cx="0" cy="182880"/>
          </a:xfrm>
          <a:prstGeom prst="line">
            <a:avLst/>
          </a:prstGeom>
          <a:ln w="22225" cap="flat" cmpd="sng" algn="ctr">
            <a:solidFill>
              <a:srgbClr val="00CA72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54480" y="45902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A72"/>
                </a:solidFill>
                <a:latin typeface="Calibri"/>
              </a:rPr>
              <a:t>yes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4160520"/>
            <a:ext cx="365760" cy="0"/>
          </a:xfrm>
          <a:prstGeom prst="line">
            <a:avLst/>
          </a:prstGeom>
          <a:ln w="22225" cap="flat" cmpd="sng" algn="ctr">
            <a:solidFill>
              <a:srgbClr val="E2445C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97480" y="39502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2445C"/>
                </a:solidFill>
                <a:latin typeface="Calibri"/>
              </a:rPr>
              <a:t>no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2743200" y="2542032"/>
            <a:ext cx="274320" cy="1618488"/>
          </a:xfrm>
          <a:prstGeom prst="bentConnector3">
            <a:avLst/>
          </a:prstGeom>
          <a:ln w="22225" cap="flat" cmpd="sng" algn="ctr">
            <a:solidFill>
              <a:srgbClr val="E2445C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1097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23338"/>
                </a:solidFill>
                <a:latin typeface="Calibri"/>
              </a:rPr>
              <a:t>Project-level RAG &amp; blocker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554480"/>
            <a:ext cx="1828800" cy="50292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554480"/>
            <a:ext cx="1828800" cy="50292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554480"/>
            <a:ext cx="1828800" cy="502920"/>
          </a:xfrm>
          <a:prstGeom prst="roundRect">
            <a:avLst/>
          </a:prstGeom>
          <a:solidFill>
            <a:srgbClr val="E2445C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103120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6879"/>
                </a:solidFill>
                <a:latin typeface="Calibri"/>
              </a:rPr>
              <a:t>PM updates RAG weekly. AMBER/RED requires currentBlocker + blockerOwner + due date.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3017520"/>
            <a:ext cx="2286000" cy="54864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PM sets blocker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017520"/>
            <a:ext cx="2286000" cy="54864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Assign blockerOwnerId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40" y="3017520"/>
            <a:ext cx="1280160" cy="548640"/>
          </a:xfrm>
          <a:prstGeom prst="roundRect">
            <a:avLst/>
          </a:prstGeom>
          <a:solidFill>
            <a:srgbClr val="A25DDC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Notify owner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55279" y="3291840"/>
            <a:ext cx="274321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15600" y="3291840"/>
            <a:ext cx="9144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69280" y="3840480"/>
            <a:ext cx="6126480" cy="50292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Owner posts update → PM clears blocker → RAG recalculated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32520" y="3566160"/>
            <a:ext cx="0" cy="27432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0" y="4572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Per-gate deliverables (examples):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937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G1: Kickoff minutes · scope confirmation · risk register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1389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G2: SLD · BoQ · DBD · permit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34009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G3: PO list · vendor confirmations · logistics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541264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G4: Site readiness checklist · HSE plan · mobilisation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74243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G5: Daily site reports · photos · punch 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94360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G6: Test sheets · SAT/FAT · commissioning checklist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61447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G7: Handover dossier · asset register · warranty docs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634593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338"/>
                </a:solidFill>
                <a:latin typeface="Calibri"/>
              </a:rPr>
              <a:t>G8: Closeout report · lessons learned · final invoice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6. Procurement Flow (RFQ → PO → Delivery)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Triggered after Gate 2 (Design) closes. Drives Gate 3 (Procurement) closure.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312507" cy="77724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BoQ released
(from Design)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78267" y="2217420"/>
            <a:ext cx="13716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15427" y="1828800"/>
            <a:ext cx="1312507" cy="77724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Vendor list
shortlisted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934" y="2217420"/>
            <a:ext cx="13716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65094" y="1828800"/>
            <a:ext cx="1312507" cy="77724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RFQ issued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7601" y="2217420"/>
            <a:ext cx="13716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14761" y="1828800"/>
            <a:ext cx="1312507" cy="77724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Quotes received
+ compared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7268" y="2217420"/>
            <a:ext cx="13716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64428" y="1828800"/>
            <a:ext cx="1312507" cy="77724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 raised
(approval req'd)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76934" y="2217420"/>
            <a:ext cx="13716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14094" y="1828800"/>
            <a:ext cx="1312507" cy="77724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 issued
to vendor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26601" y="2217420"/>
            <a:ext cx="13716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63761" y="1828800"/>
            <a:ext cx="1312507" cy="77724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Goods delivered
+ GRN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76268" y="2217420"/>
            <a:ext cx="137160" cy="0"/>
          </a:xfrm>
          <a:prstGeom prst="line">
            <a:avLst/>
          </a:prstGeom>
          <a:ln w="22225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3428" y="1828800"/>
            <a:ext cx="1312507" cy="777240"/>
          </a:xfrm>
          <a:prstGeom prst="roundRect">
            <a:avLst/>
          </a:prstGeom>
          <a:solidFill>
            <a:srgbClr val="A25DDC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Equipment serial
recorded</a:t>
            </a:r>
          </a:p>
        </p:txBody>
      </p:sp>
      <p:sp>
        <p:nvSpPr>
          <p:cNvPr id="21" name="Diamond 20"/>
          <p:cNvSpPr/>
          <p:nvPr/>
        </p:nvSpPr>
        <p:spPr>
          <a:xfrm>
            <a:off x="5029200" y="3291840"/>
            <a:ext cx="2194560" cy="914400"/>
          </a:xfrm>
          <a:prstGeom prst="diamond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Value &gt; approval
threshold?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2606040"/>
            <a:ext cx="0" cy="685800"/>
          </a:xfrm>
          <a:prstGeom prst="line">
            <a:avLst/>
          </a:prstGeom>
          <a:ln w="19050" cap="flat" cmpd="sng" algn="ctr">
            <a:solidFill>
              <a:srgbClr val="FDAB3D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0" y="3520440"/>
            <a:ext cx="2743200" cy="502920"/>
          </a:xfrm>
          <a:prstGeom prst="roundRect">
            <a:avLst/>
          </a:prstGeom>
          <a:solidFill>
            <a:srgbClr val="A25DDC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Director approves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3749039"/>
            <a:ext cx="365760" cy="0"/>
          </a:xfrm>
          <a:prstGeom prst="line">
            <a:avLst/>
          </a:prstGeom>
          <a:ln w="22225" cap="flat" cmpd="sng" algn="ctr">
            <a:solidFill>
              <a:srgbClr val="A25DDC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42048" y="35204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25DDC"/>
                </a:solidFill>
                <a:latin typeface="Calibri"/>
              </a:rPr>
              <a:t>yes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3520440"/>
            <a:ext cx="2468880" cy="50292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PM signs off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572000" y="3749039"/>
            <a:ext cx="457200" cy="0"/>
          </a:xfrm>
          <a:prstGeom prst="line">
            <a:avLst/>
          </a:prstGeom>
          <a:ln w="22225" cap="flat" cmpd="sng" algn="ctr">
            <a:solidFill>
              <a:srgbClr val="0073EA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17720" y="35204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73EA"/>
                </a:solidFill>
                <a:latin typeface="Calibri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7200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PO status changes notify: project PM · project members · all PROCUREMENT-role users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983480"/>
            <a:ext cx="1371600" cy="457200"/>
          </a:xfrm>
          <a:prstGeom prst="roundRect">
            <a:avLst/>
          </a:prstGeom>
          <a:solidFill>
            <a:srgbClr val="F0F1F4"/>
          </a:solidFill>
          <a:ln w="9525">
            <a:solidFill>
              <a:srgbClr val="676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676879"/>
                </a:solidFill>
                <a:latin typeface="Calibri"/>
              </a:rPr>
              <a:t>DRAFT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10512" y="4983480"/>
            <a:ext cx="1371600" cy="457200"/>
          </a:xfrm>
          <a:prstGeom prst="roundRect">
            <a:avLst/>
          </a:prstGeom>
          <a:solidFill>
            <a:srgbClr val="DCE9FC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73EA"/>
                </a:solidFill>
                <a:latin typeface="Calibri"/>
              </a:rPr>
              <a:t>SUBMITTED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55264" y="4983480"/>
            <a:ext cx="1371600" cy="45720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CA72"/>
                </a:solidFill>
                <a:latin typeface="Calibri"/>
              </a:rPr>
              <a:t>APPROVED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0016" y="4983480"/>
            <a:ext cx="1371600" cy="457200"/>
          </a:xfrm>
          <a:prstGeom prst="roundRect">
            <a:avLst/>
          </a:prstGeom>
          <a:solidFill>
            <a:srgbClr val="EADBF8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A25DDC"/>
                </a:solidFill>
                <a:latin typeface="Calibri"/>
              </a:rPr>
              <a:t>ISSUED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4983480"/>
            <a:ext cx="1371600" cy="45720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DAB3D"/>
                </a:solidFill>
                <a:latin typeface="Calibri"/>
              </a:rPr>
              <a:t>PARTIAL DELIVERED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4983480"/>
            <a:ext cx="1371600" cy="45720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00CA72"/>
                </a:solidFill>
                <a:latin typeface="Calibri"/>
              </a:rPr>
              <a:t>DELIVERED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4272" y="4983480"/>
            <a:ext cx="1371600" cy="457200"/>
          </a:xfrm>
          <a:prstGeom prst="roundRect">
            <a:avLst/>
          </a:prstGeom>
          <a:solidFill>
            <a:srgbClr val="F0F1F4"/>
          </a:solidFill>
          <a:ln w="9525">
            <a:solidFill>
              <a:srgbClr val="676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676879"/>
                </a:solidFill>
                <a:latin typeface="Calibri"/>
              </a:rPr>
              <a:t>CLOSED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79024" y="4983480"/>
            <a:ext cx="1371600" cy="457200"/>
          </a:xfrm>
          <a:prstGeom prst="roundRect">
            <a:avLst/>
          </a:prstGeom>
          <a:solidFill>
            <a:srgbClr val="FBDCE0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E2445C"/>
                </a:solidFill>
                <a:latin typeface="Calibri"/>
              </a:rPr>
              <a:t>CANCELLED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760720"/>
            <a:ext cx="11460175" cy="45720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00869B"/>
                </a:solidFill>
                <a:latin typeface="Calibri"/>
              </a:rPr>
              <a:t>On final delivery: serials captured per item → ready for asset register at commissioning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7. Commissioning → Asset Register → O&amp;M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Where the project becomes an operating asset under maintenance.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749039" cy="50292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Commissioning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097280"/>
            <a:ext cx="3749039" cy="50292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Handover &amp; Asset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1097280"/>
            <a:ext cx="3749039" cy="50292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O&amp;M Operating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3749039" cy="45720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DAB3D"/>
                </a:solidFill>
                <a:latin typeface="Calibri"/>
              </a:rPr>
              <a:t>Pre-commissioning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50008"/>
            <a:ext cx="3749039" cy="45720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DAB3D"/>
                </a:solidFill>
                <a:latin typeface="Calibri"/>
              </a:rPr>
              <a:t>Functional test sheets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3749039" cy="45720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DAB3D"/>
                </a:solidFill>
                <a:latin typeface="Calibri"/>
              </a:rPr>
              <a:t>SAT / FAT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483864"/>
            <a:ext cx="3749039" cy="45720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DAB3D"/>
                </a:solidFill>
                <a:latin typeface="Calibri"/>
              </a:rPr>
              <a:t>Punch list cleared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050792"/>
            <a:ext cx="3749039" cy="457200"/>
          </a:xfrm>
          <a:prstGeom prst="roundRect">
            <a:avLst/>
          </a:prstGeom>
          <a:solidFill>
            <a:srgbClr val="FEEAC8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DAB3D"/>
                </a:solidFill>
                <a:latin typeface="Calibri"/>
              </a:rPr>
              <a:t>Gate 6 closed (PMO approval)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783080"/>
            <a:ext cx="3749039" cy="45720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869B"/>
                </a:solidFill>
                <a:latin typeface="Calibri"/>
              </a:rPr>
              <a:t>Asset register populated
(serial · warranty start · location)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350008"/>
            <a:ext cx="3749039" cy="45720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869B"/>
                </a:solidFill>
                <a:latin typeface="Calibri"/>
              </a:rPr>
              <a:t>Customer handover dossier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2916936"/>
            <a:ext cx="3749039" cy="45720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869B"/>
                </a:solidFill>
                <a:latin typeface="Calibri"/>
              </a:rPr>
              <a:t>Customer sign-off captured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3483864"/>
            <a:ext cx="3749039" cy="45720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869B"/>
                </a:solidFill>
                <a:latin typeface="Calibri"/>
              </a:rPr>
              <a:t>Gate 7 closed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4050792"/>
            <a:ext cx="3749039" cy="457200"/>
          </a:xfrm>
          <a:prstGeom prst="roundRect">
            <a:avLst/>
          </a:prstGeom>
          <a:solidFill>
            <a:srgbClr val="CCE7E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869B"/>
                </a:solidFill>
                <a:latin typeface="Calibri"/>
              </a:rPr>
              <a:t>Notify Finance for final invoice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8" y="1783080"/>
            <a:ext cx="3749039" cy="45720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Maintenance plan auto-created
(per asset class)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2350008"/>
            <a:ext cx="3749039" cy="45720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Service tickets raised
as issues arise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8" y="2916936"/>
            <a:ext cx="3749039" cy="45720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Scheduled maintenance executed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8" y="3483864"/>
            <a:ext cx="3749039" cy="45720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Warranty claims filed if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8" y="4050792"/>
            <a:ext cx="3749039" cy="457200"/>
          </a:xfrm>
          <a:prstGeom prst="roundRect">
            <a:avLst/>
          </a:prstGeom>
          <a:solidFill>
            <a:srgbClr val="D7F3E3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00CA72"/>
                </a:solidFill>
                <a:latin typeface="Calibri"/>
              </a:rPr>
              <a:t>Asset history &amp; uptime tracked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799" y="2011680"/>
            <a:ext cx="137160" cy="0"/>
          </a:xfrm>
          <a:prstGeom prst="line">
            <a:avLst/>
          </a:prstGeom>
          <a:ln w="2540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00998" y="2011680"/>
            <a:ext cx="137160" cy="0"/>
          </a:xfrm>
          <a:prstGeom prst="line">
            <a:avLst/>
          </a:prstGeom>
          <a:ln w="25400" cap="flat" cmpd="sng" algn="ctr">
            <a:solidFill>
              <a:srgbClr val="676879"/>
            </a:solidFill>
            <a:prstDash val="solid"/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534924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23338"/>
                </a:solidFill>
                <a:latin typeface="Calibri"/>
              </a:rPr>
              <a:t>Owners &amp; data flow: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23338"/>
                </a:solidFill>
                <a:latin typeface="Calibri"/>
              </a:rPr>
              <a:t>• Commissioning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669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6879"/>
                </a:solidFill>
                <a:latin typeface="Calibri"/>
              </a:rPr>
              <a:t>Runs all test sheets · marks pass/fail · uploads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7044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23338"/>
                </a:solidFill>
                <a:latin typeface="Calibri"/>
              </a:rPr>
              <a:t>• PM + PMO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87044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6879"/>
                </a:solidFill>
                <a:latin typeface="Calibri"/>
              </a:rPr>
              <a:t>Approve gate closure · sign off handover packet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7161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23338"/>
                </a:solidFill>
                <a:latin typeface="Calibri"/>
              </a:rPr>
              <a:t>• Site Supervisor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6071616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6879"/>
                </a:solidFill>
                <a:latin typeface="Calibri"/>
              </a:rPr>
              <a:t>Captures serials &amp; install location at GRN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72784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23338"/>
                </a:solidFill>
                <a:latin typeface="Calibri"/>
              </a:rPr>
              <a:t>• O&amp;M Engineer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6272784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6879"/>
                </a:solidFill>
                <a:latin typeface="Calibri"/>
              </a:rPr>
              <a:t>Owns asset post-handover · all tickets routed 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23338"/>
                </a:solidFill>
                <a:latin typeface="Calibri"/>
              </a:rPr>
              <a:t>• Finance/Admin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647395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76879"/>
                </a:solidFill>
                <a:latin typeface="Calibri"/>
              </a:rPr>
              <a:t>Triggers final milestone invoice on Gate 7 closure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7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8. Cross-Cutting Layers — Notifications · Audit · Role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76879"/>
                </a:solidFill>
                <a:latin typeface="Calibri"/>
              </a:rPr>
              <a:t>Same data, different views. The system enforces who sees what at every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676879"/>
                </a:solidFill>
                <a:latin typeface="Calibri"/>
              </a:rPr>
              <a:t>Solaroo RE CRM — Sales-to-Project Lifecycle Flowcharts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23338"/>
                </a:solidFill>
                <a:latin typeface="Calibri"/>
              </a:rPr>
              <a:t>Notification triggers (in-app bell + daily digest):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834640" cy="41148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Gate submitted/approved/rejected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Gate approver + 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463040"/>
            <a:ext cx="2834640" cy="4114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Proposal submitted/decision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920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Sales mgr + Director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463040"/>
            <a:ext cx="2834640" cy="41148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Opp WON / 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1920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Sales team + Director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8864" y="1463040"/>
            <a:ext cx="2834640" cy="411480"/>
          </a:xfrm>
          <a:prstGeom prst="roundRect">
            <a:avLst/>
          </a:prstGeom>
          <a:solidFill>
            <a:srgbClr val="00CA72"/>
          </a:solidFill>
          <a:ln w="9525">
            <a:solidFill>
              <a:srgbClr val="00C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Deliverable 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1920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PM + project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0280"/>
            <a:ext cx="2834640" cy="411480"/>
          </a:xfrm>
          <a:prstGeom prst="roundRect">
            <a:avLst/>
          </a:prstGeom>
          <a:solidFill>
            <a:srgbClr val="E2445C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Blocker assigned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Blocker owner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2240280"/>
            <a:ext cx="2834640" cy="41148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PO status 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697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PM + PROCUREMENT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240280"/>
            <a:ext cx="2834640" cy="411480"/>
          </a:xfrm>
          <a:prstGeom prst="roundRect">
            <a:avLst/>
          </a:prstGeom>
          <a:solidFill>
            <a:srgbClr val="00869B"/>
          </a:solidFill>
          <a:ln w="9525">
            <a:solidFill>
              <a:srgbClr val="008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Document approved/rejected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97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Uploader + doc owner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2240280"/>
            <a:ext cx="2834640" cy="411480"/>
          </a:xfrm>
          <a:prstGeom prst="roundRect">
            <a:avLst/>
          </a:prstGeom>
          <a:solidFill>
            <a:srgbClr val="0073EA"/>
          </a:solidFill>
          <a:ln w="9525">
            <a:solidFill>
              <a:srgbClr val="007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Project member added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697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New member +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017520"/>
            <a:ext cx="2834640" cy="411480"/>
          </a:xfrm>
          <a:prstGeom prst="roundRect">
            <a:avLst/>
          </a:prstGeom>
          <a:solidFill>
            <a:srgbClr val="E2445C"/>
          </a:solidFill>
          <a:ln w="9525">
            <a:solidFill>
              <a:srgbClr val="E2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Overdue next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4747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Action + opp owner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017520"/>
            <a:ext cx="2834640" cy="41148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Proposal awaiting follow-up (3d)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4747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Opp owner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3017520"/>
            <a:ext cx="2834640" cy="411480"/>
          </a:xfrm>
          <a:prstGeom prst="roundRect">
            <a:avLst/>
          </a:prstGeom>
          <a:solidFill>
            <a:srgbClr val="FDAB3D"/>
          </a:solidFill>
          <a:ln w="9525">
            <a:solidFill>
              <a:srgbClr val="FDA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Stale opportunity (14d)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34747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Opp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98864" y="3017520"/>
            <a:ext cx="2834640" cy="411480"/>
          </a:xfrm>
          <a:prstGeom prst="roundRect">
            <a:avLst/>
          </a:prstGeom>
          <a:solidFill>
            <a:srgbClr val="A25DDC"/>
          </a:solidFill>
          <a:ln w="9525">
            <a:solidFill>
              <a:srgbClr val="A25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Daily digest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34747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676879"/>
                </a:solidFill>
                <a:latin typeface="Calibri"/>
              </a:rPr>
              <a:t>Each user (opt-in)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23338"/>
                </a:solidFill>
                <a:latin typeface="Calibri"/>
              </a:rPr>
              <a:t>Role visibility (sensitive fields):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00600"/>
            <a:ext cx="146304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Director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Sales Mgr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Sales Eng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PMO Mgr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Procure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Site Sup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O&amp;M Eng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69880" y="4800600"/>
            <a:ext cx="960120" cy="292608"/>
          </a:xfrm>
          <a:prstGeom prst="rect">
            <a:avLst/>
          </a:prstGeom>
          <a:solidFill>
            <a:srgbClr val="007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93208"/>
            <a:ext cx="1463040" cy="292608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323338"/>
                </a:solidFill>
                <a:latin typeface="Calibri"/>
              </a:rPr>
              <a:t> Margin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509320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509320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50932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4709160" y="50932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50932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50932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50932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50932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509320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0469880" y="509320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385816"/>
            <a:ext cx="1463040" cy="292608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323338"/>
                </a:solidFill>
                <a:latin typeface="Calibri"/>
              </a:rPr>
              <a:t> CAPEX value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5385816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88920" y="5385816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538581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4709160" y="538581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538581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6629400" y="538581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538581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8549640" y="538581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9509760" y="538581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5385816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678424"/>
            <a:ext cx="1463040" cy="292608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323338"/>
                </a:solidFill>
                <a:latin typeface="Calibri"/>
              </a:rPr>
              <a:t> Pipeline value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0" y="5678424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5678424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4904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662940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854964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10469880" y="5678424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971032"/>
            <a:ext cx="1463040" cy="292608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323338"/>
                </a:solidFill>
                <a:latin typeface="Calibri"/>
              </a:rPr>
              <a:t> Opportunity $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0" y="5971032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88920" y="5971032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49040" y="5971032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09160" y="5971032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0" y="5971032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6629400" y="5971032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7589520" y="5971032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8549640" y="5971032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9509760" y="5971032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10469880" y="5971032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6263640"/>
            <a:ext cx="1463040" cy="292608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323338"/>
                </a:solidFill>
                <a:latin typeface="Calibri"/>
              </a:rPr>
              <a:t> Project gate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6263640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88920" y="6263640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3749040" y="6263640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4709160" y="6263640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0" y="6263640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29400" y="6263640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89520" y="6263640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49640" y="6263640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509760" y="6263640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0469880" y="6263640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6556248"/>
            <a:ext cx="1463040" cy="292608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323338"/>
                </a:solidFill>
                <a:latin typeface="Calibri"/>
              </a:rPr>
              <a:t> Asset register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828800" y="655624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88920" y="655624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3749040" y="655624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655624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669280" y="655624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29400" y="655624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7589520" y="655624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8549640" y="655624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509760" y="6556248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469880" y="6556248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6848856"/>
            <a:ext cx="1463040" cy="292608"/>
          </a:xfrm>
          <a:prstGeom prst="rect">
            <a:avLst/>
          </a:prstGeom>
          <a:solidFill>
            <a:srgbClr val="F0F1F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323338"/>
                </a:solidFill>
                <a:latin typeface="Calibri"/>
              </a:rPr>
              <a:t> Audit log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0" y="6848856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8892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374904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4709160" y="6848856"/>
            <a:ext cx="960120" cy="292608"/>
          </a:xfrm>
          <a:prstGeom prst="rect">
            <a:avLst/>
          </a:prstGeom>
          <a:solidFill>
            <a:srgbClr val="D7F3E3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CA72"/>
                </a:solidFill>
                <a:latin typeface="Calibri"/>
              </a:rPr>
              <a:t>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6928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662940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758952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854964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950976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0469880" y="6848856"/>
            <a:ext cx="9601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0F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1F4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